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jpeg" ContentType="image/jpe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e323b241264804" /><Relationship Type="http://schemas.openxmlformats.org/officeDocument/2006/relationships/extended-properties" Target="/docProps/app.xml" Id="R0d12b7525cd34b59" /><Relationship Type="http://schemas.openxmlformats.org/officeDocument/2006/relationships/officeDocument" Target="/ppt/presentation.xml" Id="R64d06963be7e487b" /></Relationships>
</file>

<file path=ppt/presentation.xml><?xml version="1.0" encoding="utf-8"?>
<p:presentation xmlns:p="http://schemas.openxmlformats.org/presentationml/2006/main" embedTrueTypeFonts="1" saveSubsetFonts="1">
  <p:sldMasterIdLst>
    <p:sldMasterId xmlns:r="http://schemas.openxmlformats.org/officeDocument/2006/relationships" id="2147483648" r:id="R8f1ff2f0373b4087"/>
  </p:sldMasterIdLst>
  <p:notesMasterIdLst>
    <p:notesMasterId xmlns:r="http://schemas.openxmlformats.org/officeDocument/2006/relationships" r:id="R787d5eb7d32d499c"/>
  </p:notesMasterIdLst>
  <p:sldIdLst>
    <p:sldId xmlns:r="http://schemas.openxmlformats.org/officeDocument/2006/relationships" id="256" r:id="R771d936427324095"/>
    <p:sldId xmlns:r="http://schemas.openxmlformats.org/officeDocument/2006/relationships" id="257" r:id="R825fe8cf19634926"/>
    <p:sldId xmlns:r="http://schemas.openxmlformats.org/officeDocument/2006/relationships" id="258" r:id="R99998b0deb7547f0"/>
    <p:sldId xmlns:r="http://schemas.openxmlformats.org/officeDocument/2006/relationships" id="259" r:id="Rb4eb00092a844205"/>
    <p:sldId xmlns:r="http://schemas.openxmlformats.org/officeDocument/2006/relationships" id="260" r:id="R801560e04f9648c9"/>
    <p:sldId xmlns:r="http://schemas.openxmlformats.org/officeDocument/2006/relationships" id="261" r:id="R3bc6541040b34f87"/>
  </p:sldIdLst>
  <p:sldSz cx="12192000" cy="6858000"/>
  <p:notesSz cx="6858000" cy="9144000"/>
  <p:embeddedFontLst>
    <p:embeddedFont>
      <p:font typeface="SimHei"/>
      <p:regular xmlns:r="http://schemas.openxmlformats.org/officeDocument/2006/relationships" r:id="Ra880a2ddb9864722"/>
    </p:embeddedFont>
    <p:embeddedFont>
      <p:font typeface="HarmonyOS Sans SC"/>
      <p:regular xmlns:r="http://schemas.openxmlformats.org/officeDocument/2006/relationships" r:id="R4bc5765b5886470c"/>
      <p:bold xmlns:r="http://schemas.openxmlformats.org/officeDocument/2006/relationships" r:id="Ra4b760c34cc84368"/>
    </p:embeddedFont>
    <p:embeddedFont>
      <p:font typeface="等线"/>
      <p:regular xmlns:r="http://schemas.openxmlformats.org/officeDocument/2006/relationships" r:id="R4a863c742050460b"/>
      <p:bold xmlns:r="http://schemas.openxmlformats.org/officeDocument/2006/relationships" r:id="R6d144622d9e04258"/>
    </p:embeddedFont>
    <p:embeddedFont>
      <p:font typeface="微软雅黑"/>
      <p:regular xmlns:r="http://schemas.openxmlformats.org/officeDocument/2006/relationships" r:id="Ra698306083a8411f"/>
      <p:bold xmlns:r="http://schemas.openxmlformats.org/officeDocument/2006/relationships" r:id="R507580e977e343dd"/>
    </p:embeddedFont>
  </p:embeddedFontLst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cbcccfb1c7417f" /><Relationship Type="http://schemas.openxmlformats.org/officeDocument/2006/relationships/slideMaster" Target="/ppt/slideMasters/slideMaster1.xml" Id="R8f1ff2f0373b4087" /><Relationship Type="http://schemas.openxmlformats.org/officeDocument/2006/relationships/notesMaster" Target="/ppt/notesMasters/notesMaster1.xml" Id="R787d5eb7d32d499c" /><Relationship Type="http://schemas.openxmlformats.org/officeDocument/2006/relationships/presProps" Target="/ppt/presProps.xml" Id="R0a0bc9c8663e449c" /><Relationship Type="http://schemas.openxmlformats.org/officeDocument/2006/relationships/viewProps" Target="/ppt/viewProps.xml" Id="Rd0b3225d720447a6" /><Relationship Type="http://schemas.openxmlformats.org/officeDocument/2006/relationships/tableStyles" Target="/ppt/tableStyles.xml" Id="Re30fada5fdab42ca" /><Relationship Type="http://schemas.openxmlformats.org/officeDocument/2006/relationships/font" Target="/ppt/fonts/font.dat" Id="Ra880a2ddb9864722" /><Relationship Type="http://schemas.openxmlformats.org/officeDocument/2006/relationships/font" Target="/ppt/fonts/font2.dat" Id="R4bc5765b5886470c" /><Relationship Type="http://schemas.openxmlformats.org/officeDocument/2006/relationships/font" Target="/ppt/fonts/font3.dat" Id="Ra4b760c34cc84368" /><Relationship Type="http://schemas.openxmlformats.org/officeDocument/2006/relationships/font" Target="/ppt/fonts/font4.dat" Id="R4a863c742050460b" /><Relationship Type="http://schemas.openxmlformats.org/officeDocument/2006/relationships/font" Target="/ppt/fonts/font5.dat" Id="R6d144622d9e04258" /><Relationship Type="http://schemas.openxmlformats.org/officeDocument/2006/relationships/font" Target="/ppt/fonts/font6.dat" Id="Ra698306083a8411f" /><Relationship Type="http://schemas.openxmlformats.org/officeDocument/2006/relationships/font" Target="/ppt/fonts/font7.dat" Id="R507580e977e343dd" /><Relationship Type="http://schemas.openxmlformats.org/officeDocument/2006/relationships/slide" Target="/ppt/slides/slide1.xml" Id="R771d936427324095" /><Relationship Type="http://schemas.openxmlformats.org/officeDocument/2006/relationships/slide" Target="/ppt/slides/slide2.xml" Id="R825fe8cf19634926" /><Relationship Type="http://schemas.openxmlformats.org/officeDocument/2006/relationships/slide" Target="/ppt/slides/slide3.xml" Id="R99998b0deb7547f0" /><Relationship Type="http://schemas.openxmlformats.org/officeDocument/2006/relationships/slide" Target="/ppt/slides/slide4.xml" Id="Rb4eb00092a844205" /><Relationship Type="http://schemas.openxmlformats.org/officeDocument/2006/relationships/slide" Target="/ppt/slides/slide5.xml" Id="R801560e04f9648c9" /><Relationship Type="http://schemas.openxmlformats.org/officeDocument/2006/relationships/slide" Target="/ppt/slides/slide6.xml" Id="R3bc6541040b34f8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e5b0cf12a84463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自定义 1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2CF3A8"/>
      </a:hlink>
      <a:folHlink>
        <a:srgbClr val="8C8C8C"/>
      </a:folHlink>
    </a:clrScheme>
    <a:fontScheme name="鸿蒙">
      <a:majorFont>
        <a:latin typeface="HarmonyOS Sans SC"/>
        <a:ea typeface="HarmonyOS Sans SC"/>
        <a:cs typeface=""/>
      </a:majorFont>
      <a:minorFont>
        <a:latin typeface="HarmonyOS Sans SC"/>
        <a:ea typeface="HarmonyOS Sans SC"/>
        <a:cs typeface=""/>
      </a:minorFont>
    </a:fontScheme>
    <a:fmtScheme name="自定义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7ca87937a724c6b" /><Relationship Type="http://schemas.openxmlformats.org/officeDocument/2006/relationships/notesMaster" Target="/ppt/notesMasters/notesMaster1.xml" Id="R1730c892c66d414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82812a237514efc" /><Relationship Type="http://schemas.openxmlformats.org/officeDocument/2006/relationships/notesMaster" Target="/ppt/notesMasters/notesMaster1.xml" Id="R37498a14af6c40e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0c71d4cd2de4f72" /><Relationship Type="http://schemas.openxmlformats.org/officeDocument/2006/relationships/notesMaster" Target="/ppt/notesMasters/notesMaster1.xml" Id="R5e7f068ee56d423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aaf672aa234028" /><Relationship Type="http://schemas.openxmlformats.org/officeDocument/2006/relationships/notesMaster" Target="/ppt/notesMasters/notesMaster1.xml" Id="Rc08564c47a824d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e89df8f499d4ecc" /><Relationship Type="http://schemas.openxmlformats.org/officeDocument/2006/relationships/notesMaster" Target="/ppt/notesMasters/notesMaster1.xml" Id="R6994f273d8844b9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73f8e71130d4fa7" /><Relationship Type="http://schemas.openxmlformats.org/officeDocument/2006/relationships/notesMaster" Target="/ppt/notesMasters/notesMaster1.xml" Id="R370566847aec47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Xiaoshi is an embedded dehumidification cabinet prototype intended for small enclosed storage spaces. Its design combines silica-gel handling and thermoelectric condensation with local controls and a browser dashboard. Source: supplied MEC202 Demo.zip, DemonstrationPPT.pptx, slides 1-4.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original presentation identifies humidity control, environmental status display, convenient operation and a compact enclosure as design requirements. Air-quality improvement is a design goal in that material. The supplied package does not contain a quantified purification evaluation. Source: supplied DemonstrationPPT.pptx, slide 2.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layered design includes a silica-gel desiccant section, fan, auxiliary UV/TiO2 feature, thermoelectric condensation section and controller. The ATmega2560 firmware contains a humidity PID and a second PID that limits PWM according to Peltier temperature, with a 60 C setpoint, plus water-level cutoff logic. The materials do not establish measured purification efficacy or verified protection under sensor faults. Sources: supplied DemonstrationPPT.pptx, slide 3; ArduinoMegaCode/src/main.cpp, PIDController, loop and updateHardwareState.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project includes a TFT and encoder interface, an ESP8266 browser dashboard, and voice-command materials. The supplied Mega code reads voice results over I2C, while the supplied voice filename and workbook refer to UART frames. A matching module configuration and end-to-end voice operation need hardware verification. Sources: supplied DemonstrationPPT.pptx, slide 4; ArduinoMegaCode/src/main.cpp, readASRResult and handleVoiceCommand; VoiceRecognitionModuleFirmware/XIAOSHI.xlsx.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introduces the supplied historical demonstration. The public release retains its timeline and audio, with a replacement title card covering the participant roster. It is a demonstration artifact and does not provide a new quantified dehumidification or purification experiment. Source: supplied MEC202 Demo.zip, DemonstrationVideo.mp4; see docs/media/README.md for the public copy.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The original final slide reports qualitative feedback and proposes improving voice recognition and water/electrical separation. No survey protocol, participant count or quantitative feedback results accompany those statements. Water-level and thermal checks refer to implemented controller logic rather than verified fault tolerance. Source: supplied DemonstrationPPT.pptx, slide 6; ArduinoMegaCode/src/main.cpp.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d0202f3b384a8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2496b09363470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5e8a8d90c6485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801866ee1d466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2e9a5f208d4b9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8a50efc9ff494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0380858a394ab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cdb20b12cd417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66af4121334df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18d188ed2743d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1c07f4025440a2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54C602DB-731E-1FAD-0440-A1780D65779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DC7146AF-D120-AA0C-2DFC-13FBB1F7B2A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单击此处编辑母版副标题样式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A2C7F6AB-6CDB-A976-8A6E-C1907BC4BAA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FED7BD4-F131-4AFF-8DD2-C55327E2107F}" type="datetimeFigureOut">
              <a:t>2026/5/20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B2778AD2-04F3-FC1A-70E3-AB56A119C2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BA5D530B-29F4-84DA-2A9E-1376DA6BF2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CD9E75D-7824-47C7-A2A6-45405AA0A05A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1B6D125E-5981-07B0-C37A-13818C8E1C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A9A3FEA9-B788-C0F8-2A51-39146BD1AB9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1522A4C9-1B1C-413F-3CD1-0845BC59F2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FED7BD4-F131-4AFF-8DD2-C55327E2107F}" type="datetimeFigureOut">
              <a:t>2026/5/20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F8291187-C626-0201-B45B-36503C7592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9E372312-D0E4-E89E-0779-ECAD4A1EF23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CD9E75D-7824-47C7-A2A6-45405AA0A05A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726DB1F0-9F0F-56DD-A1FD-3349A14B52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05D839CB-9E22-B71D-BB05-899768AFB16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18284D0A-AD3A-EBE8-7EBF-8207FC2ACF3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FED7BD4-F131-4AFF-8DD2-C55327E2107F}" type="datetimeFigureOut">
              <a:t>2026/5/20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95E9F54A-EF26-2E4A-3173-48401604489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F35B6FD1-101D-7088-C84C-0597308C5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CD9E75D-7824-47C7-A2A6-45405AA0A05A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114F3365-8EFA-B52A-2E77-DC950691710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E1DEA8D9-9D81-F77B-DA9C-2EFCD763DE9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88B23CB8-BBB9-2AA0-4F2A-21085B515F9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E2953945-0EA1-507F-726F-F2A9761FF0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FED7BD4-F131-4AFF-8DD2-C55327E2107F}" type="datetimeFigureOut">
              <a:t>2026/5/20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E25897FA-454A-985B-4B91-866E583B25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1A67925F-E39F-0170-1ABC-2E36742132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CD9E75D-7824-47C7-A2A6-45405AA0A05A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CBC92371-11C4-2405-3404-8C7574EE84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7417CBC5-919B-1BBF-C1FE-FA75C9EC534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E324969F-8B40-9B83-559F-FEFD44C9A6B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3880332B-3769-E523-D906-1657E6DBC3E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0D34F01D-9204-0E77-BB96-7218353454E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1166CEDE-857F-05C4-7432-6E89754D94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FED7BD4-F131-4AFF-8DD2-C55327E2107F}" type="datetimeFigureOut">
              <a:t>2026/5/20</a:t>
            </a:fld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1881DDAD-5BBF-B8C3-7241-19BABC803F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2ECF5863-88DE-2C21-9B8B-E2BF01E7B8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CD9E75D-7824-47C7-A2A6-45405AA0A05A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6E052F1C-2ED3-1960-94F8-BF752E52FC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139AE2AB-9031-0A5E-610E-36A4772861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FED7BD4-F131-4AFF-8DD2-C55327E2107F}" type="datetimeFigureOut">
              <a:t>2026/5/20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1DE44976-9DD6-E2B3-8AA8-AD7A4CE6823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3DBB4FD0-C391-975B-D07E-73D1E0456A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CD9E75D-7824-47C7-A2A6-45405AA0A05A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D2DE3834-3612-FD28-B481-57BFC1D1B6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D657A1E7-9411-B3F0-DA1F-FB25459B7C2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DD2742CF-C7A3-9DC6-781A-5393B6474B8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255D8611-6241-6752-4693-B956FF0CE5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FED7BD4-F131-4AFF-8DD2-C55327E2107F}" type="datetimeFigureOut">
              <a:t>2026/5/20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2192EC88-4847-A7A8-AD09-9D30E615870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A149D5F1-E487-3928-4645-2E63528A35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CD9E75D-7824-47C7-A2A6-45405AA0A05A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D6F27324-623F-49C2-B7DB-C935C96D01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678B10D0-7047-FC37-D7E5-5E70C3E137E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FBF1108C-C403-ED0C-7EB1-08E6DFFA5F1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973A7F68-007E-C5EF-13A1-B1C9441845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FED7BD4-F131-4AFF-8DD2-C55327E2107F}" type="datetimeFigureOut">
              <a:t>2026/5/20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EFFE2A4A-9C54-2E66-C3CD-0F36CB0607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C745202F-4299-40C1-1435-F33E857639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CD9E75D-7824-47C7-A2A6-45405AA0A05A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436EE17-28A8-A43E-745D-63A5A9BAF9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5EE6738B-CD5B-502D-D5C2-35FA9D812AD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93A69BE7-5809-C031-0D15-8E1FA34E02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FED7BD4-F131-4AFF-8DD2-C55327E2107F}" type="datetimeFigureOut">
              <a:t>2026/5/20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B18C2C9E-F8DD-0B11-01B3-4C569708E6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920258FE-DED9-4D45-208C-5612CC02142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CD9E75D-7824-47C7-A2A6-45405AA0A05A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8032AB9C-CA7F-B6D7-7CDB-DE29ED2203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02BA1A6C-AFDA-9D77-991E-7F05710AB41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25CEE2A9-A362-3EFB-41BE-831021DEAD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FED7BD4-F131-4AFF-8DD2-C55327E2107F}" type="datetimeFigureOut">
              <a:t>2026/5/20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872F6F55-69A6-FD9B-35F8-3CD4DFB37CC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F228EDB5-3931-3EFB-35CD-B90CB8E86A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CD9E75D-7824-47C7-A2A6-45405AA0A05A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085714e61de46ec" /><Relationship Type="http://schemas.openxmlformats.org/officeDocument/2006/relationships/slideLayout" Target="/ppt/slideLayouts/slideLayout1.xml" Id="Rb30d4208d6da4758" /><Relationship Type="http://schemas.openxmlformats.org/officeDocument/2006/relationships/slideLayout" Target="/ppt/slideLayouts/slideLayout2.xml" Id="R91137c2c41204860" /><Relationship Type="http://schemas.openxmlformats.org/officeDocument/2006/relationships/slideLayout" Target="/ppt/slideLayouts/slideLayout3.xml" Id="R8bb481c8c54a4b23" /><Relationship Type="http://schemas.openxmlformats.org/officeDocument/2006/relationships/slideLayout" Target="/ppt/slideLayouts/slideLayout4.xml" Id="R307cc48e62a64f04" /><Relationship Type="http://schemas.openxmlformats.org/officeDocument/2006/relationships/slideLayout" Target="/ppt/slideLayouts/slideLayout5.xml" Id="R4f9f3612db6047de" /><Relationship Type="http://schemas.openxmlformats.org/officeDocument/2006/relationships/slideLayout" Target="/ppt/slideLayouts/slideLayout6.xml" Id="Rf54aebaed679460a" /><Relationship Type="http://schemas.openxmlformats.org/officeDocument/2006/relationships/slideLayout" Target="/ppt/slideLayouts/slideLayout7.xml" Id="Ra336e1b343004708" /><Relationship Type="http://schemas.openxmlformats.org/officeDocument/2006/relationships/slideLayout" Target="/ppt/slideLayouts/slideLayout8.xml" Id="R393013a9b25e4a63" /><Relationship Type="http://schemas.openxmlformats.org/officeDocument/2006/relationships/slideLayout" Target="/ppt/slideLayouts/slideLayout9.xml" Id="R013f38e3c16f4161" /><Relationship Type="http://schemas.openxmlformats.org/officeDocument/2006/relationships/slideLayout" Target="/ppt/slideLayouts/slideLayout10.xml" Id="Rfdcd52562e754d65" /><Relationship Type="http://schemas.openxmlformats.org/officeDocument/2006/relationships/slideLayout" Target="/ppt/slideLayouts/slideLayout11.xml" Id="R09ecbb13d1c04c4d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tx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823D77AD-2E01-993C-E461-FF2F35F3F7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D9A56A35-984C-7B21-ABA4-2CE6B42B295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D1AE355F-828F-1981-ECC4-4E38A9581AD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2FED7BD4-F131-4AFF-8DD2-C55327E2107F}" type="datetimeFigureOut">
              <a:t>2026/5/20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90163C2E-E855-D004-EA33-4E609A9AB4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6F7A058-B100-CDD9-D0B5-03F8CBD3C63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7CD9E75D-7824-47C7-A2A6-45405AA0A05A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30d4208d6da4758"/>
    <p:sldLayoutId xmlns:r="http://schemas.openxmlformats.org/officeDocument/2006/relationships" id="2147483650" r:id="R91137c2c41204860"/>
    <p:sldLayoutId xmlns:r="http://schemas.openxmlformats.org/officeDocument/2006/relationships" id="2147483651" r:id="R8bb481c8c54a4b23"/>
    <p:sldLayoutId xmlns:r="http://schemas.openxmlformats.org/officeDocument/2006/relationships" id="2147483652" r:id="R307cc48e62a64f04"/>
    <p:sldLayoutId xmlns:r="http://schemas.openxmlformats.org/officeDocument/2006/relationships" id="2147483653" r:id="R4f9f3612db6047de"/>
    <p:sldLayoutId xmlns:r="http://schemas.openxmlformats.org/officeDocument/2006/relationships" id="2147483654" r:id="Rf54aebaed679460a"/>
    <p:sldLayoutId xmlns:r="http://schemas.openxmlformats.org/officeDocument/2006/relationships" id="2147483655" r:id="Ra336e1b343004708"/>
    <p:sldLayoutId xmlns:r="http://schemas.openxmlformats.org/officeDocument/2006/relationships" id="2147483656" r:id="R393013a9b25e4a63"/>
    <p:sldLayoutId xmlns:r="http://schemas.openxmlformats.org/officeDocument/2006/relationships" id="2147483657" r:id="R013f38e3c16f4161"/>
    <p:sldLayoutId xmlns:r="http://schemas.openxmlformats.org/officeDocument/2006/relationships" id="2147483658" r:id="Rfdcd52562e754d65"/>
    <p:sldLayoutId xmlns:r="http://schemas.openxmlformats.org/officeDocument/2006/relationships" id="2147483659" r:id="R09ecbb13d1c04c4d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​​">
  <a:themeElements>
    <a:clrScheme name="自定义 1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2CF3A8"/>
      </a:hlink>
      <a:folHlink>
        <a:srgbClr val="8C8C8C"/>
      </a:folHlink>
    </a:clrScheme>
    <a:fontScheme name="鸿蒙">
      <a:majorFont>
        <a:latin typeface="HarmonyOS Sans SC"/>
        <a:ea typeface="HarmonyOS Sans SC"/>
        <a:cs typeface=""/>
      </a:majorFont>
      <a:minorFont>
        <a:latin typeface="HarmonyOS Sans SC"/>
        <a:ea typeface="HarmonyOS Sans SC"/>
        <a:cs typeface=""/>
      </a:minorFont>
    </a:fontScheme>
    <a:fmtScheme name="自定义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63e1d83c5f2457c" /><Relationship Type="http://schemas.openxmlformats.org/officeDocument/2006/relationships/image" Target="/ppt/media/image.png" Id="R61a0801681154c4a" /><Relationship Type="http://schemas.openxmlformats.org/officeDocument/2006/relationships/image" Target="/ppt/media/image2.png" Id="R22e6d0b49f9d4a0d" /><Relationship Type="http://schemas.openxmlformats.org/officeDocument/2006/relationships/notesSlide" Target="/ppt/notesSlides/notesSlide1.xml" Id="Rca695e2ca76c4a5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88c5eabe2734af4" /><Relationship Type="http://schemas.openxmlformats.org/officeDocument/2006/relationships/notesSlide" Target="/ppt/notesSlides/notesSlide2.xml" Id="R35375a478b0c43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6a6f3d48648455e" /><Relationship Type="http://schemas.openxmlformats.org/officeDocument/2006/relationships/image" Target="/ppt/media/image.jpeg" Id="R68bd6f4ef7a341d3" /><Relationship Type="http://schemas.openxmlformats.org/officeDocument/2006/relationships/image" Target="/ppt/media/image3.png" Id="R3b696f02b2e64a15" /><Relationship Type="http://schemas.openxmlformats.org/officeDocument/2006/relationships/notesSlide" Target="/ppt/notesSlides/notesSlide3.xml" Id="R2cc9f44b66174b3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f0d68e6c0e54617" /><Relationship Type="http://schemas.openxmlformats.org/officeDocument/2006/relationships/image" Target="/ppt/media/image.jpeg" Id="R8ac85f23124a4a49" /><Relationship Type="http://schemas.openxmlformats.org/officeDocument/2006/relationships/image" Target="/ppt/media/image.svg" Id="Rdf9604b2a9c8482b" /><Relationship Type="http://schemas.openxmlformats.org/officeDocument/2006/relationships/image" Target="/ppt/media/image2.jpeg" Id="R7df428cb501644c9" /><Relationship Type="http://schemas.openxmlformats.org/officeDocument/2006/relationships/image" Target="/ppt/media/image2.svg" Id="R17c157544b054ff2" /><Relationship Type="http://schemas.openxmlformats.org/officeDocument/2006/relationships/image" Target="/ppt/media/image4.png" Id="Rfbb2a3f66e044e3d" /><Relationship Type="http://schemas.openxmlformats.org/officeDocument/2006/relationships/image" Target="/ppt/media/image5.png" Id="Rdbea19f7cf8e4360" /><Relationship Type="http://schemas.openxmlformats.org/officeDocument/2006/relationships/notesSlide" Target="/ppt/notesSlides/notesSlide4.xml" Id="R0f97307c1c0d418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04f4022f5974fab" /><Relationship Type="http://schemas.openxmlformats.org/officeDocument/2006/relationships/image" Target="/ppt/media/image6.png" Id="R417c110b7330449b" /><Relationship Type="http://schemas.openxmlformats.org/officeDocument/2006/relationships/notesSlide" Target="/ppt/notesSlides/notesSlide5.xml" Id="Rb636d5129f6049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2c3f3f0b56c440a" /><Relationship Type="http://schemas.openxmlformats.org/officeDocument/2006/relationships/image" Target="/ppt/media/image3.jpeg" Id="R8e1748070c54423f" /><Relationship Type="http://schemas.openxmlformats.org/officeDocument/2006/relationships/notesSlide" Target="/ppt/notesSlides/notesSlide6.xml" Id="R1905c7ab946244c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图片 15">
            <a:extLst xmlns:a="http://schemas.openxmlformats.org/drawingml/2006/main">
              <a:ext uri="{FF2B5EF4-FFF2-40B4-BE49-F238E27FC236}">
                <a16:creationId xmlns:a16="http://schemas.microsoft.com/office/drawing/2014/main" id="{9ACB1560-4D11-4966-93CF-0D5DB4C64D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a0801681154c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18226567">
            <a:off x="287746" y="373307"/>
            <a:ext cx="7940444" cy="6858000"/>
          </a:xfrm>
          <a:prstGeom xmlns:a="http://schemas.openxmlformats.org/drawingml/2006/main" prst="rect">
            <a:avLst/>
          </a:prstGeom>
        </p:spPr>
      </p:pic>
      <p:pic>
        <p:nvPicPr>
          <p:cNvPr id="13" name="图片 12" hidden="1">
            <a:extLst xmlns:a="http://schemas.openxmlformats.org/drawingml/2006/main">
              <a:ext uri="{FF2B5EF4-FFF2-40B4-BE49-F238E27FC236}">
                <a16:creationId xmlns:a16="http://schemas.microsoft.com/office/drawing/2014/main" id="{75AE55E0-B1B5-4F6F-8D37-328CE4350A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e6d0b49f9d4a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18711701">
            <a:off x="-872921" y="1842557"/>
            <a:ext cx="9059400" cy="5176800"/>
          </a:xfrm>
          <a:prstGeom xmlns:a="http://schemas.openxmlformats.org/drawingml/2006/main" prst="rect">
            <a:avLst/>
          </a:prstGeom>
        </p:spPr>
      </p:pic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D4846546-B821-EDA4-6757-70CAE7EC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53013"/>
            <a:ext cx="12192000" cy="1804987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chemeClr val="tx1"/>
              </a:gs>
              <a:gs pos="100000">
                <a:schemeClr val="tx1">
                  <a:alpha val="0"/>
                </a:schemeClr>
              </a:gs>
            </a:gsLst>
            <a:lin ang="16200000" scaled="0"/>
          </a:gra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latin typeface="SimHei"/>
              <a:ea typeface="SimHei"/>
              <a:cs typeface="SimHei"/>
            </a:endParaRPr>
          </a:p>
        </p:txBody>
      </p:sp>
      <p:sp>
        <p:nvSpPr>
          <p:cNvPr id="3" name="矩形: 圆角 2">
            <a:extLst xmlns:a="http://schemas.openxmlformats.org/drawingml/2006/main">
              <a:ext uri="{FF2B5EF4-FFF2-40B4-BE49-F238E27FC236}">
                <a16:creationId xmlns:a16="http://schemas.microsoft.com/office/drawing/2014/main" id="{83566D75-6AF0-8E7F-BA74-882EB75FE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0627" y="2410528"/>
            <a:ext cx="4700860" cy="88098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b="1" cap="all"/>
              <a:t>An Intelligent Household Dehumidification and</a:t>
            </a:r>
            <a:r>
              <a:t> </a:t>
            </a:r>
            <a:r>
              <a:rPr b="1" cap="all"/>
              <a:t>Auxiliary PURIFICATION SYSTEM</a:t>
            </a:r>
            <a:endParaRPr sz="6000">
              <a:solidFill>
                <a:schemeClr val="bg1"/>
              </a:solidFill>
              <a:latin typeface="SimHei"/>
              <a:ea typeface="SimHei"/>
              <a:cs typeface="SimHei"/>
            </a:endParaRPr>
          </a:p>
        </p:txBody>
      </p:sp>
      <p:sp>
        <p:nvSpPr>
          <p:cNvPr id="4" name="矩形: 圆角 3">
            <a:extLst xmlns:a="http://schemas.openxmlformats.org/drawingml/2006/main">
              <a:ext uri="{FF2B5EF4-FFF2-40B4-BE49-F238E27FC236}">
                <a16:creationId xmlns:a16="http://schemas.microsoft.com/office/drawing/2014/main" id="{593B29BE-4838-4D82-B772-CCD03FD6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222" y="5708045"/>
            <a:ext cx="3942692" cy="667043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>
                <a:solidFill>
                  <a:schemeClr val="bg1"/>
                </a:solidFill>
                <a:latin typeface="SimHei"/>
                <a:ea typeface="SimHei"/>
                <a:cs typeface="SimHei"/>
              </a:rPr>
              <a:t/>
            </a:r>
          </a:p>
        </p:txBody>
      </p:sp>
      <p:sp>
        <p:nvSpPr>
          <p:cNvPr id="8" name="矩形: 圆角 7">
            <a:extLst xmlns:a="http://schemas.openxmlformats.org/drawingml/2006/main">
              <a:ext uri="{FF2B5EF4-FFF2-40B4-BE49-F238E27FC236}">
                <a16:creationId xmlns:a16="http://schemas.microsoft.com/office/drawing/2014/main" id="{7D33DFD5-5394-A970-87A4-A67EE4BBD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7792" y="5416729"/>
            <a:ext cx="3668983" cy="582632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cap="all"/>
              <a:t>Embedded Control</a:t>
            </a:r>
            <a:endParaRPr/>
          </a:p>
          <a:p xmlns:a="http://schemas.openxmlformats.org/drawingml/2006/main">
            <a:pPr algn="r">
              <a:buNone/>
            </a:pPr>
            <a:r>
              <a:rPr cap="all"/>
              <a:t>Connected Dashboard</a:t>
            </a:r>
            <a:endParaRPr/>
          </a:p>
          <a:p xmlns:a="http://schemas.openxmlformats.org/drawingml/2006/main">
            <a:pPr algn="r">
              <a:buNone/>
            </a:pPr>
            <a:r>
              <a:rPr cap="all"/>
              <a:t>Modular Hardware</a:t>
            </a:r>
            <a:endParaRPr/>
          </a:p>
        </p:txBody>
      </p:sp>
      <p:sp>
        <p:nvSpPr>
          <p:cNvPr id="9" name="矩形: 圆角 8">
            <a:extLst xmlns:a="http://schemas.openxmlformats.org/drawingml/2006/main">
              <a:ext uri="{FF2B5EF4-FFF2-40B4-BE49-F238E27FC236}">
                <a16:creationId xmlns:a16="http://schemas.microsoft.com/office/drawing/2014/main" id="{763A256D-55A0-5ABA-A369-6EAD69924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0688" y="5904989"/>
            <a:ext cx="2096087" cy="348171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</a:pPr>
            <a:endParaRPr sz="2000" b="1">
              <a:solidFill>
                <a:schemeClr val="accent1">
                  <a:lumMod val="40000"/>
                  <a:lumOff val="60000"/>
                </a:schemeClr>
              </a:solidFill>
              <a:latin typeface="SimHei"/>
              <a:ea typeface="SimHei"/>
              <a:cs typeface="SimHei"/>
            </a:endParaRPr>
          </a:p>
        </p:txBody>
      </p:sp>
      <p:sp>
        <p:nvSpPr>
          <p:cNvPr id="10" name="矩形: 圆角 9">
            <a:extLst xmlns:a="http://schemas.openxmlformats.org/drawingml/2006/main">
              <a:ext uri="{FF2B5EF4-FFF2-40B4-BE49-F238E27FC236}">
                <a16:creationId xmlns:a16="http://schemas.microsoft.com/office/drawing/2014/main" id="{A3BADBF4-ED8C-05A6-DDB0-DC90EA2D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0941" y="783031"/>
            <a:ext cx="6952012" cy="1853564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500">
                <a:gradFill>
                  <a:gsLst>
                    <a:gs pos="0">
                      <a:schemeClr val="accent5"/>
                    </a:gs>
                    <a:gs pos="100000">
                      <a:srgbClr val="F29CCB"/>
                    </a:gs>
                  </a:gsLst>
                  <a:lin ang="12000000" scaled="0"/>
                </a:gradFill>
                <a:latin typeface="SimHei"/>
                <a:ea typeface="SimHei"/>
                <a:cs typeface="SimHei"/>
              </a:rPr>
              <a:t>XIAOSHI</a:t>
            </a:r>
          </a:p>
        </p:txBody>
      </p:sp>
      <p:sp>
        <p:nvSpPr>
          <p:cNvPr id="11" name="矩形: 圆角 11">
            <a:extLst xmlns:a="http://schemas.openxmlformats.org/drawingml/2006/main">
              <a:ext uri="{FF2B5EF4-FFF2-40B4-BE49-F238E27FC236}">
                <a16:creationId xmlns:a16="http://schemas.microsoft.com/office/drawing/2014/main" id="{58B26065-E594-D04F-9200-CAC206A9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8731" y="6384731"/>
            <a:ext cx="1983728" cy="577911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>
                <a:solidFill>
                  <a:schemeClr val="bg1">
                    <a:lumMod val="85000"/>
                  </a:schemeClr>
                </a:solidFill>
                <a:latin typeface="SimHei"/>
                <a:ea typeface="SimHei"/>
                <a:cs typeface="SimHei"/>
              </a:rPr>
              <a:t/>
            </a:r>
            <a:endParaRPr sz="1600">
              <a:solidFill>
                <a:schemeClr val="bg1">
                  <a:lumMod val="85000"/>
                </a:schemeClr>
              </a:solidFill>
              <a:latin typeface="SimHei"/>
              <a:ea typeface="SimHei"/>
              <a:cs typeface="SimHei"/>
            </a:endParaRPr>
          </a:p>
        </p:txBody>
      </p:sp>
    </p:spTree>
    <p:extLst>
      <p:ext uri="{BB962C8B-B14F-4D97-AF65-F5344CB8AC3E}">
        <p14:creationId xmlns:p14="http://schemas.microsoft.com/office/powerpoint/2010/main" val="161734756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: 圆角 1">
            <a:extLst xmlns:a="http://schemas.openxmlformats.org/drawingml/2006/main">
              <a:ext uri="{FF2B5EF4-FFF2-40B4-BE49-F238E27FC236}">
                <a16:creationId xmlns:a16="http://schemas.microsoft.com/office/drawing/2014/main" id="{EB52A911-FAAE-F6AD-8EB1-090C1F80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003" y="2257244"/>
            <a:ext cx="9012702" cy="1094008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endParaRPr sz="2400" b="1">
              <a:solidFill>
                <a:schemeClr val="bg1"/>
              </a:solidFill>
              <a:latin typeface="SimHei"/>
              <a:ea typeface="SimHei"/>
              <a:cs typeface="SimHei"/>
            </a:endParaRPr>
          </a:p>
        </p:txBody>
      </p:sp>
      <p:sp>
        <p:nvSpPr>
          <p:cNvPr id="3" name="矩形: 圆角 2">
            <a:extLst xmlns:a="http://schemas.openxmlformats.org/drawingml/2006/main">
              <a:ext uri="{FF2B5EF4-FFF2-40B4-BE49-F238E27FC236}">
                <a16:creationId xmlns:a16="http://schemas.microsoft.com/office/drawing/2014/main" id="{A7CBB4F6-2010-1394-1845-64C1B93C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795" y="371847"/>
            <a:ext cx="7068194" cy="794620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sz="3600" b="1">
                <a:solidFill>
                  <a:srgbClr val="FF8BAE"/>
                </a:solidFill>
                <a:latin typeface="微软雅黑"/>
                <a:ea typeface="微软雅黑"/>
                <a:cs typeface="微软雅黑"/>
              </a:rPr>
              <a:t>Background &amp; Requirements</a:t>
            </a:r>
            <a:endParaRPr sz="3600" b="1">
              <a:solidFill>
                <a:srgbClr val="FF8BAE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endParaRPr sz="3600" b="1">
              <a:solidFill>
                <a:srgbClr val="FF8BA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AE3A0522-9B8F-EB3C-C020-7C2126BF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810" y="2720310"/>
            <a:ext cx="11392365" cy="12618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2800" b="1">
                <a:solidFill>
                  <a:schemeClr val="accent1">
                    <a:lumMod val="40000"/>
                    <a:lumOff val="60000"/>
                  </a:schemeClr>
                </a:solidFill>
                <a:latin typeface="微软雅黑"/>
                <a:ea typeface="微软雅黑"/>
                <a:cs typeface="微软雅黑"/>
              </a:rPr>
              <a:t>Target Users</a:t>
            </a:r>
          </a:p>
          <a:p xmlns:a="http://schemas.openxmlformats.org/drawingml/2006/main">
            <a:r>
              <a:rPr sz="2400">
                <a:solidFill>
                  <a:schemeClr val="bg1"/>
                </a:solidFill>
              </a:rPr>
              <a:t>Users who need dry, clean storage for valuable items and prefer convenient monitoring and control of enclosed spaces.</a:t>
            </a:r>
            <a:endParaRPr sz="2400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24" name="表格 23">
            <a:extLst xmlns:a="http://schemas.openxmlformats.org/drawingml/2006/main">
              <a:ext uri="{FF2B5EF4-FFF2-40B4-BE49-F238E27FC236}">
                <a16:creationId xmlns:a16="http://schemas.microsoft.com/office/drawing/2014/main" id="{5DD8352B-3FAE-4F68-9C17-F94E3E747422}"/>
              </a:ext>
            </a:extLst>
          </p:cNvPr>
          <p:cNvGraphicFramePr/>
          <p:nvPr/>
        </p:nvGraphicFramePr>
        <p:xfrm>
          <a:off xmlns:a="http://schemas.openxmlformats.org/drawingml/2006/main" x="339810" y="4485100"/>
          <a:ext xmlns:a="http://schemas.openxmlformats.org/drawingml/2006/main" cx="11348982" cy="2286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3183"/>
                <a:gridCol w="6175799"/>
              </a:tblGrid>
              <a:tr h="277698">
                <a:tc>
                  <a:txBody>
                    <a:bodyPr/>
                    <a:lstStyle/>
                    <a:p>
                      <a:pPr marL="0" algn="l" defTabSz="914400">
                        <a:buNone/>
                      </a:pPr>
                      <a:r>
                        <a:rPr sz="2400" b="1">
                          <a:solidFill>
                            <a:schemeClr val="bg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User Need</a:t>
                      </a:r>
                    </a:p>
                  </a:txBody>
                  <a:tcPr marL="91440" marR="91440" marT="45720" marB="4572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>
                        <a:buNone/>
                      </a:pPr>
                      <a:r>
                        <a:rPr sz="2400" b="1">
                          <a:solidFill>
                            <a:schemeClr val="bg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Design Requirement</a:t>
                      </a:r>
                      <a:endParaRPr sz="2400" b="1" kern="1200">
                        <a:solidFill>
                          <a:schemeClr val="bg1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1440" marR="91440" marT="45720" marB="4572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222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>
                          <a:latin typeface="微软雅黑"/>
                          <a:ea typeface="微软雅黑"/>
                          <a:cs typeface="微软雅黑"/>
                        </a:rPr>
                        <a:t>Reduce humidity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>
                          <a:latin typeface="微软雅黑"/>
                          <a:ea typeface="微软雅黑"/>
                          <a:cs typeface="微软雅黑"/>
                        </a:rPr>
                        <a:t>Dehumidification function</a:t>
                      </a:r>
                    </a:p>
                  </a:txBody>
                  <a:tcPr marL="91440" marR="91440" marT="45720" marB="45720" anchor="ctr"/>
                </a:tc>
              </a:tr>
              <a:tr h="225244">
                <a:tc>
                  <a:txBody>
                    <a:bodyPr/>
                    <a:lstStyle/>
                    <a:p>
                      <a:pPr marL="0" algn="l" defTabSz="914400">
                        <a:buNone/>
                      </a:pPr>
                      <a:r>
                        <a:rPr sz="1800">
                          <a:solidFill>
                            <a:schemeClr val="dk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Monitor environmental status</a:t>
                      </a:r>
                      <a:endParaRPr sz="1800" kern="1200">
                        <a:solidFill>
                          <a:schemeClr val="dk1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800">
                          <a:solidFill>
                            <a:schemeClr val="dk1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Environmental data display</a:t>
                      </a:r>
                      <a:endParaRPr sz="1800" kern="1200">
                        <a:solidFill>
                          <a:schemeClr val="dk1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91440" marR="91440" marT="45720" marB="45720" anchor="ctr"/>
                </a:tc>
              </a:tr>
              <a:tr h="2252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>
                          <a:latin typeface="微软雅黑"/>
                          <a:ea typeface="微软雅黑"/>
                          <a:cs typeface="微软雅黑"/>
                        </a:rPr>
                        <a:t>Improve air quality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>
                          <a:latin typeface="微软雅黑"/>
                          <a:ea typeface="微软雅黑"/>
                          <a:cs typeface="微软雅黑"/>
                        </a:rPr>
                        <a:t>Improve air quality</a:t>
                      </a:r>
                    </a:p>
                  </a:txBody>
                  <a:tcPr marL="91440" marR="91440" marT="45720" marB="45720" anchor="ctr"/>
                </a:tc>
              </a:tr>
              <a:tr h="2252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>
                          <a:latin typeface="微软雅黑"/>
                          <a:ea typeface="微软雅黑"/>
                          <a:cs typeface="微软雅黑"/>
                        </a:rPr>
                        <a:t>Easy operation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>
                          <a:latin typeface="微软雅黑"/>
                          <a:ea typeface="微软雅黑"/>
                          <a:cs typeface="微软雅黑"/>
                        </a:rPr>
                        <a:t>Easy operation</a:t>
                      </a:r>
                    </a:p>
                  </a:txBody>
                  <a:tcPr marL="91440" marR="91440" marT="45720" marB="45720" anchor="ctr"/>
                </a:tc>
              </a:tr>
              <a:tr h="2252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>
                          <a:latin typeface="微软雅黑"/>
                          <a:ea typeface="微软雅黑"/>
                          <a:cs typeface="微软雅黑"/>
                        </a:rPr>
                        <a:t>Fit small spaces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>
                          <a:latin typeface="微软雅黑"/>
                          <a:ea typeface="微软雅黑"/>
                          <a:cs typeface="微软雅黑"/>
                        </a:rPr>
                        <a:t>Fit small spaces</a:t>
                      </a:r>
                    </a:p>
                  </a:txBody>
                  <a:tcPr marL="91440" marR="91440" marT="45720" marB="45720" anchor="ctr"/>
                </a:tc>
              </a:tr>
            </a:tbl>
          </a:graphicData>
        </a:graphic>
      </p:graphicFrame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F131D389-6172-42E4-1BA2-7846ABA95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810" y="1123867"/>
            <a:ext cx="11348981" cy="12618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800" b="1">
                <a:solidFill>
                  <a:schemeClr val="accent1">
                    <a:lumMod val="40000"/>
                    <a:lumOff val="60000"/>
                  </a:schemeClr>
                </a:solidFill>
                <a:latin typeface="微软雅黑"/>
                <a:ea typeface="微软雅黑"/>
                <a:cs typeface="微软雅黑"/>
              </a:rPr>
              <a:t>High humidity problems</a:t>
            </a:r>
          </a:p>
          <a:p xmlns:a="http://schemas.openxmlformats.org/drawingml/2006/main">
            <a:pPr>
              <a:buNone/>
            </a:pPr>
            <a:r>
              <a:rPr sz="2400">
                <a:solidFill>
                  <a:schemeClr val="bg1"/>
                </a:solidFill>
              </a:rPr>
              <a:t>High humidity can cause discomfort, mold growth, and damage to stored items such as clothes, books, wooden products and musical instruments.</a:t>
            </a:r>
          </a:p>
        </p:txBody>
      </p:sp>
    </p:spTree>
    <p:extLst>
      <p:ext uri="{BB962C8B-B14F-4D97-AF65-F5344CB8AC3E}">
        <p14:creationId xmlns:p14="http://schemas.microsoft.com/office/powerpoint/2010/main" val="244974986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标题 3">
            <a:extLst xmlns:a="http://schemas.openxmlformats.org/drawingml/2006/main">
              <a:ext uri="{FF2B5EF4-FFF2-40B4-BE49-F238E27FC236}">
                <a16:creationId xmlns:a16="http://schemas.microsoft.com/office/drawing/2014/main" id="{461281BB-3775-0AFE-93BF-8DA1A044E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630" y="1490999"/>
            <a:ext cx="4761629" cy="7632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2800">
                <a:solidFill>
                  <a:schemeClr val="accent3">
                    <a:lumMod val="40000"/>
                    <a:lumOff val="60000"/>
                  </a:schemeClr>
                </a:solidFill>
                <a:latin typeface="微软雅黑"/>
                <a:ea typeface="微软雅黑"/>
                <a:cs typeface="微软雅黑"/>
              </a:rPr>
              <a:t>Hardware Design Features</a:t>
            </a:r>
            <a:endParaRPr sz="2800">
              <a:solidFill>
                <a:schemeClr val="accent3">
                  <a:lumMod val="40000"/>
                  <a:lumOff val="60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: 圆角 13">
            <a:extLst xmlns:a="http://schemas.openxmlformats.org/drawingml/2006/main">
              <a:ext uri="{FF2B5EF4-FFF2-40B4-BE49-F238E27FC236}">
                <a16:creationId xmlns:a16="http://schemas.microsoft.com/office/drawing/2014/main" id="{11C43A70-CE6F-4800-8C0F-704299BB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233" y="4628088"/>
            <a:ext cx="4297984" cy="550058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 sz="24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直线连接符 38">
            <a:extLst xmlns:a="http://schemas.openxmlformats.org/drawingml/2006/main">
              <a:ext uri="{FF2B5EF4-FFF2-40B4-BE49-F238E27FC236}">
                <a16:creationId xmlns:a16="http://schemas.microsoft.com/office/drawing/2014/main" id="{2415C102-5715-44A9-B545-EFF4FCEF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683321" y="1918483"/>
            <a:ext cx="1081163" cy="38658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3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3" name="直线连接符 42">
            <a:extLst xmlns:a="http://schemas.openxmlformats.org/drawingml/2006/main">
              <a:ext uri="{FF2B5EF4-FFF2-40B4-BE49-F238E27FC236}">
                <a16:creationId xmlns:a16="http://schemas.microsoft.com/office/drawing/2014/main" id="{2ADC51AE-2BC9-41F8-8758-8EBBD83C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770976" y="1627833"/>
            <a:ext cx="1886311" cy="282108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5FFFFD"/>
            </a:solidFill>
            <a:prstDash val="dash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45" name="文本框 44">
            <a:extLst xmlns:a="http://schemas.openxmlformats.org/drawingml/2006/main">
              <a:ext uri="{FF2B5EF4-FFF2-40B4-BE49-F238E27FC236}">
                <a16:creationId xmlns:a16="http://schemas.microsoft.com/office/drawing/2014/main" id="{CC8144E5-09B1-1E41-94F1-AC3A227AC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6589" y="1243458"/>
            <a:ext cx="3926781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Silica-gel desiccant layer</a:t>
            </a:r>
            <a:endParaRPr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0" name="直线连接符 49">
            <a:extLst xmlns:a="http://schemas.openxmlformats.org/drawingml/2006/main">
              <a:ext uri="{FF2B5EF4-FFF2-40B4-BE49-F238E27FC236}">
                <a16:creationId xmlns:a16="http://schemas.microsoft.com/office/drawing/2014/main" id="{53DE88F0-2368-46F8-A4CB-B6269F8EC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683321" y="2482319"/>
            <a:ext cx="1009384" cy="91324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3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1" name="直线连接符 50">
            <a:extLst xmlns:a="http://schemas.openxmlformats.org/drawingml/2006/main">
              <a:ext uri="{FF2B5EF4-FFF2-40B4-BE49-F238E27FC236}">
                <a16:creationId xmlns:a16="http://schemas.microsoft.com/office/drawing/2014/main" id="{41E38F17-5310-4266-8C16-FD951BD0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692705" y="2472618"/>
            <a:ext cx="1882239" cy="15043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5FFFFD"/>
            </a:solidFill>
            <a:prstDash val="dash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60" name="文本框 59">
            <a:extLst xmlns:a="http://schemas.openxmlformats.org/drawingml/2006/main">
              <a:ext uri="{FF2B5EF4-FFF2-40B4-BE49-F238E27FC236}">
                <a16:creationId xmlns:a16="http://schemas.microsoft.com/office/drawing/2014/main" id="{9C24C688-44F8-B540-B9EF-B0423A57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6589" y="2052856"/>
            <a:ext cx="1278940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Fan Layer</a:t>
            </a:r>
            <a:endParaRPr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线连接符 61">
            <a:extLst xmlns:a="http://schemas.openxmlformats.org/drawingml/2006/main">
              <a:ext uri="{FF2B5EF4-FFF2-40B4-BE49-F238E27FC236}">
                <a16:creationId xmlns:a16="http://schemas.microsoft.com/office/drawing/2014/main" id="{A298CB82-966F-4465-93B8-A10803E3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276" y="3483196"/>
            <a:ext cx="1169142" cy="35663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3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3" name="直线连接符 62">
            <a:extLst xmlns:a="http://schemas.openxmlformats.org/drawingml/2006/main">
              <a:ext uri="{FF2B5EF4-FFF2-40B4-BE49-F238E27FC236}">
                <a16:creationId xmlns:a16="http://schemas.microsoft.com/office/drawing/2014/main" id="{A1A9CC70-471A-4BC1-B5EC-4CDED556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0418" y="3839826"/>
            <a:ext cx="2003533" cy="6179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5FFFFD"/>
            </a:solidFill>
            <a:prstDash val="dash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70" name="文本框 69">
            <a:extLst xmlns:a="http://schemas.openxmlformats.org/drawingml/2006/main">
              <a:ext uri="{FF2B5EF4-FFF2-40B4-BE49-F238E27FC236}">
                <a16:creationId xmlns:a16="http://schemas.microsoft.com/office/drawing/2014/main" id="{5B57245C-A751-4647-B7BA-B144CD74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8009" y="3483196"/>
            <a:ext cx="2256900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UV catalytic Layer</a:t>
            </a:r>
            <a:endParaRPr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2" name="直线连接符 71">
            <a:extLst xmlns:a="http://schemas.openxmlformats.org/drawingml/2006/main">
              <a:ext uri="{FF2B5EF4-FFF2-40B4-BE49-F238E27FC236}">
                <a16:creationId xmlns:a16="http://schemas.microsoft.com/office/drawing/2014/main" id="{A82C7C3E-C18B-4DB4-94E1-782B6C9A6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02558" y="4468884"/>
            <a:ext cx="1068418" cy="204953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3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3" name="直线连接符 72">
            <a:extLst xmlns:a="http://schemas.openxmlformats.org/drawingml/2006/main">
              <a:ext uri="{FF2B5EF4-FFF2-40B4-BE49-F238E27FC236}">
                <a16:creationId xmlns:a16="http://schemas.microsoft.com/office/drawing/2014/main" id="{0D833CD9-78F7-4699-87DB-A419F820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0418" y="4463457"/>
            <a:ext cx="2003533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5FFFFD"/>
            </a:solidFill>
            <a:prstDash val="dash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78" name="文本框 77">
            <a:extLst xmlns:a="http://schemas.openxmlformats.org/drawingml/2006/main">
              <a:ext uri="{FF2B5EF4-FFF2-40B4-BE49-F238E27FC236}">
                <a16:creationId xmlns:a16="http://schemas.microsoft.com/office/drawing/2014/main" id="{189135C5-4176-0246-8415-60C9C86E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685" y="4094125"/>
            <a:ext cx="2984215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TEC Condensation Layer</a:t>
            </a:r>
            <a:endParaRPr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3" name="直线连接符 82">
            <a:extLst xmlns:a="http://schemas.openxmlformats.org/drawingml/2006/main">
              <a:ext uri="{FF2B5EF4-FFF2-40B4-BE49-F238E27FC236}">
                <a16:creationId xmlns:a16="http://schemas.microsoft.com/office/drawing/2014/main" id="{8A70DD99-77E5-4C13-9BEB-EAD8DF612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576943" y="5526365"/>
            <a:ext cx="1193475" cy="205199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3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84" name="直线连接符 83">
            <a:extLst xmlns:a="http://schemas.openxmlformats.org/drawingml/2006/main">
              <a:ext uri="{FF2B5EF4-FFF2-40B4-BE49-F238E27FC236}">
                <a16:creationId xmlns:a16="http://schemas.microsoft.com/office/drawing/2014/main" id="{45D89C43-E1BE-42AA-8239-D092B902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0976" y="5526365"/>
            <a:ext cx="1886311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5FFFFD"/>
            </a:solidFill>
            <a:prstDash val="dash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93" name="文本框 92">
            <a:extLst xmlns:a="http://schemas.openxmlformats.org/drawingml/2006/main">
              <a:ext uri="{FF2B5EF4-FFF2-40B4-BE49-F238E27FC236}">
                <a16:creationId xmlns:a16="http://schemas.microsoft.com/office/drawing/2014/main" id="{A3A39BE5-5557-7A42-8B14-8E8170DE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611" y="5176921"/>
            <a:ext cx="1747145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Control Layer</a:t>
            </a:r>
            <a:endParaRPr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9" name="文本框 108">
            <a:extLst xmlns:a="http://schemas.openxmlformats.org/drawingml/2006/main">
              <a:ext uri="{FF2B5EF4-FFF2-40B4-BE49-F238E27FC236}">
                <a16:creationId xmlns:a16="http://schemas.microsoft.com/office/drawing/2014/main" id="{17BE3302-FDEE-574C-87A7-216BE481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15" y="166240"/>
            <a:ext cx="4761629" cy="10772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3200" b="1">
                <a:solidFill>
                  <a:schemeClr val="accent3">
                    <a:lumMod val="60000"/>
                    <a:lumOff val="40000"/>
                  </a:schemeClr>
                </a:solidFill>
                <a:latin typeface="微软雅黑"/>
                <a:ea typeface="微软雅黑"/>
                <a:cs typeface="微软雅黑"/>
              </a:rPr>
              <a:t>System Architecture &amp; Design Features</a:t>
            </a:r>
            <a:endParaRPr sz="3200" b="1">
              <a:solidFill>
                <a:schemeClr val="accent3">
                  <a:lumMod val="60000"/>
                  <a:lumOff val="40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10" name="图片 109">
            <a:extLst xmlns:a="http://schemas.openxmlformats.org/drawingml/2006/main">
              <a:ext uri="{FF2B5EF4-FFF2-40B4-BE49-F238E27FC236}">
                <a16:creationId xmlns:a16="http://schemas.microsoft.com/office/drawing/2014/main" id="{02DC1316-3CFE-419A-80D9-0F0E27C0C7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bd6f4ef7a341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3151458">
            <a:off x="10257375" y="259234"/>
            <a:ext cx="1360583" cy="1592206"/>
          </a:xfrm>
          <a:prstGeom xmlns:a="http://schemas.openxmlformats.org/drawingml/2006/main" prst="rect">
            <a:avLst/>
          </a:prstGeom>
        </p:spPr>
      </p:pic>
      <p:sp>
        <p:nvSpPr>
          <p:cNvPr id="11" name="文本框 10">
            <a:extLst xmlns:a="http://schemas.openxmlformats.org/drawingml/2006/main">
              <a:ext uri="{FF2B5EF4-FFF2-40B4-BE49-F238E27FC236}">
                <a16:creationId xmlns:a16="http://schemas.microsoft.com/office/drawing/2014/main" id="{4607E09E-7FE0-C696-1A91-D1806215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712" y="2318839"/>
            <a:ext cx="4962848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>
            <a:defPPr>
              <a:defRPr sz="1650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</a:rPr>
              <a:t>Compact Layered Structure</a:t>
            </a:r>
            <a:endParaRPr sz="1200" b="1">
              <a:solidFill>
                <a:schemeClr val="bg1"/>
              </a:solidFill>
            </a:endParaRPr>
          </a:p>
          <a:p xmlns:a="http://schemas.openxmlformats.org/drawingml/2006/main">
            <a:pPr>
              <a:buNone/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</a:rPr>
              <a:t>For small enclosed storage spaces.</a:t>
            </a:r>
          </a:p>
          <a:p xmlns:a="http://schemas.openxmlformats.org/drawingml/2006/main">
            <a:pPr>
              <a:buNone/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</a:rPr>
              <a:t>Dual Dehumidification</a:t>
            </a:r>
          </a:p>
          <a:p xmlns:a="http://schemas.openxmlformats.org/drawingml/2006/main">
            <a:pPr>
              <a:buNone/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</a:rPr>
              <a:t>Silica-gel adsorption and TEC condensation.</a:t>
            </a:r>
          </a:p>
          <a:p xmlns:a="http://schemas.openxmlformats.org/drawingml/2006/main">
            <a:pPr>
              <a:buNone/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</a:rPr>
              <a:t>Auxiliary UV Layer</a:t>
            </a:r>
          </a:p>
          <a:p xmlns:a="http://schemas.openxmlformats.org/drawingml/2006/main">
            <a:pPr>
              <a:buNone/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</a:rPr>
              <a:t>UV/TiO₂ design; efficacy not measured.</a:t>
            </a:r>
            <a:endParaRPr sz="12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>
              <a:buNone/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</a:rPr>
              <a:t>Water and Thermal Checks</a:t>
            </a:r>
            <a:endParaRPr sz="12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>
              <a:buNone/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</a:rPr>
              <a:t>Water cutoff and temperature-limited PWM.</a:t>
            </a:r>
            <a:endParaRPr sz="12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2" name="图片 11">
            <a:extLst xmlns:a="http://schemas.openxmlformats.org/drawingml/2006/main">
              <a:ext uri="{FF2B5EF4-FFF2-40B4-BE49-F238E27FC236}">
                <a16:creationId xmlns:a16="http://schemas.microsoft.com/office/drawing/2014/main" id="{8C16EEB6-3360-4C3B-83D9-8F9F61CA0A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696f02b2e64a1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43350" y="763953"/>
            <a:ext cx="4134659" cy="5807817"/>
          </a:xfrm>
          <a:prstGeom xmlns:a="http://schemas.openxmlformats.org/drawingml/2006/main" prst="rect">
            <a:avLst/>
          </a:prstGeom>
        </p:spPr>
      </p:pic>
      <p:sp>
        <p:nvSpPr>
          <p:cNvPr id="2" name="直线连接符 82">
            <a:extLst xmlns:a="http://schemas.openxmlformats.org/drawingml/2006/main">
              <a:ext uri="{FF2B5EF4-FFF2-40B4-BE49-F238E27FC236}">
                <a16:creationId xmlns:a16="http://schemas.microsoft.com/office/drawing/2014/main" id="{735BBA15-C30E-4B03-8A0B-0D929D87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968" y="5854786"/>
            <a:ext cx="732856" cy="28918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3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tx1"/>
          </a:fontRef>
        </p:style>
      </p:sp>
      <p:cxnSp>
        <p:nvCxnSpPr>
          <p:cNvPr id="5" name="直线连接符 83">
            <a:extLst xmlns:a="http://schemas.openxmlformats.org/drawingml/2006/main">
              <a:ext uri="{FF2B5EF4-FFF2-40B4-BE49-F238E27FC236}">
                <a16:creationId xmlns:a16="http://schemas.microsoft.com/office/drawing/2014/main" id="{A552180D-9CFC-4F8F-8761-852B8F28B1DF}"/>
              </a:ext>
            </a:extLst>
          </p:cNvPr>
          <p:cNvCxnSpPr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8633824" y="6143966"/>
            <a:ext cx="1341280" cy="115750"/>
          </a:xfrm>
          <a:prstGeom xmlns:a="http://schemas.openxmlformats.org/drawingml/2006/main" prst="line">
            <a:avLst/>
          </a:prstGeom>
          <a:ln xmlns:a="http://schemas.openxmlformats.org/drawingml/2006/main" w="12700" cap="flat">
            <a:solidFill>
              <a:srgbClr val="5FFFFD"/>
            </a:solidFill>
            <a:prstDash val="dash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cxn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5A25D9CE-A530-8FF8-3CD0-CAE6CD57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611" y="6259716"/>
            <a:ext cx="3642985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TFT Screen With knob control</a:t>
            </a:r>
            <a:endParaRPr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直线连接符 82">
            <a:extLst xmlns:a="http://schemas.openxmlformats.org/drawingml/2006/main">
              <a:ext uri="{FF2B5EF4-FFF2-40B4-BE49-F238E27FC236}">
                <a16:creationId xmlns:a16="http://schemas.microsoft.com/office/drawing/2014/main" id="{61F2D80B-A795-4401-98EB-18E400899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302469" y="795780"/>
            <a:ext cx="1964927" cy="154847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3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直线连接符 83">
            <a:extLst xmlns:a="http://schemas.openxmlformats.org/drawingml/2006/main">
              <a:ext uri="{FF2B5EF4-FFF2-40B4-BE49-F238E27FC236}">
                <a16:creationId xmlns:a16="http://schemas.microsoft.com/office/drawing/2014/main" id="{776A6CCD-BD0A-45E4-B64C-875BD439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219652" y="509501"/>
            <a:ext cx="1249282" cy="275023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5FFFFD"/>
            </a:solidFill>
            <a:prstDash val="dash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20" name="文本框 19">
            <a:extLst xmlns:a="http://schemas.openxmlformats.org/drawingml/2006/main">
              <a:ext uri="{FF2B5EF4-FFF2-40B4-BE49-F238E27FC236}">
                <a16:creationId xmlns:a16="http://schemas.microsoft.com/office/drawing/2014/main" id="{1A558954-D744-0BD3-CA92-2BDB7C78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7924" y="152433"/>
            <a:ext cx="1742020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Feeding area</a:t>
            </a:r>
          </a:p>
        </p:txBody>
      </p:sp>
    </p:spTree>
    <p:extLst>
      <p:ext uri="{BB962C8B-B14F-4D97-AF65-F5344CB8AC3E}">
        <p14:creationId xmlns:p14="http://schemas.microsoft.com/office/powerpoint/2010/main" val="409542669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4" name="图片 63">
            <a:extLst xmlns:a="http://schemas.openxmlformats.org/drawingml/2006/main">
              <a:ext uri="{FF2B5EF4-FFF2-40B4-BE49-F238E27FC236}">
                <a16:creationId xmlns:a16="http://schemas.microsoft.com/office/drawing/2014/main" id="{9AB15D50-DDD6-4F5D-A622-291F8D7074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c85f23124a4a4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3151458">
            <a:off x="2869846" y="-45089"/>
            <a:ext cx="1360583" cy="1592206"/>
          </a:xfrm>
          <a:prstGeom xmlns:a="http://schemas.openxmlformats.org/drawingml/2006/main" prst="rect">
            <a:avLst/>
          </a:prstGeom>
        </p:spPr>
      </p:pic>
      <p:sp>
        <p:nvSpPr>
          <p:cNvPr id="10" name="矩形: 圆角 9">
            <a:extLst xmlns:a="http://schemas.openxmlformats.org/drawingml/2006/main">
              <a:ext uri="{FF2B5EF4-FFF2-40B4-BE49-F238E27FC236}">
                <a16:creationId xmlns:a16="http://schemas.microsoft.com/office/drawing/2014/main" id="{DBA64A90-9B69-ABBF-3ABE-2E64EC917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252" y="2332646"/>
            <a:ext cx="5090748" cy="550058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sz="2400" b="1">
                <a:latin typeface="微软雅黑"/>
                <a:ea typeface="微软雅黑"/>
                <a:cs typeface="微软雅黑"/>
              </a:rPr>
              <a:t>Voice Recognition</a:t>
            </a:r>
            <a:endParaRPr sz="24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: 圆角 10">
            <a:extLst xmlns:a="http://schemas.openxmlformats.org/drawingml/2006/main">
              <a:ext uri="{FF2B5EF4-FFF2-40B4-BE49-F238E27FC236}">
                <a16:creationId xmlns:a16="http://schemas.microsoft.com/office/drawing/2014/main" id="{98363A8F-500B-73EC-AF78-B25C77A44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654" y="2813317"/>
            <a:ext cx="5509760" cy="577911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Voice command interface.</a:t>
            </a:r>
            <a:endParaRPr>
              <a:solidFill>
                <a:schemeClr val="bg1">
                  <a:lumMod val="85000"/>
                </a:schemeClr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>
                <a:latin typeface="微软雅黑"/>
                <a:ea typeface="微软雅黑"/>
                <a:cs typeface="微软雅黑"/>
              </a:rPr>
              <a:t>Module configuration needs verification.</a:t>
            </a:r>
            <a:endParaRPr>
              <a:solidFill>
                <a:schemeClr val="bg1">
                  <a:lumMod val="8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矩形: 圆角 9">
            <a:extLst xmlns:a="http://schemas.openxmlformats.org/drawingml/2006/main">
              <a:ext uri="{FF2B5EF4-FFF2-40B4-BE49-F238E27FC236}">
                <a16:creationId xmlns:a16="http://schemas.microsoft.com/office/drawing/2014/main" id="{AF9E0088-1C56-6C49-904E-54C8890D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252" y="3871899"/>
            <a:ext cx="3255933" cy="550058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sz="2400" b="1">
                <a:latin typeface="微软雅黑"/>
                <a:ea typeface="微软雅黑"/>
                <a:cs typeface="微软雅黑"/>
              </a:rPr>
              <a:t>Web-Based Control</a:t>
            </a:r>
            <a:endParaRPr sz="24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0" name="矩形: 圆角 10">
            <a:extLst xmlns:a="http://schemas.openxmlformats.org/drawingml/2006/main">
              <a:ext uri="{FF2B5EF4-FFF2-40B4-BE49-F238E27FC236}">
                <a16:creationId xmlns:a16="http://schemas.microsoft.com/office/drawing/2014/main" id="{E5F819DC-71EB-E541-92A2-38BBFD181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252" y="4361325"/>
            <a:ext cx="5509760" cy="577911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>
              <a:solidFill>
                <a:schemeClr val="bg1">
                  <a:lumMod val="85000"/>
                </a:schemeClr>
              </a:solidFill>
              <a:latin typeface="SimHei"/>
              <a:ea typeface="SimHei"/>
              <a:cs typeface="SimHei"/>
            </a:endParaRPr>
          </a:p>
        </p:txBody>
      </p:sp>
      <p:sp>
        <p:nvSpPr>
          <p:cNvPr id="51" name="文本框 50">
            <a:extLst xmlns:a="http://schemas.openxmlformats.org/drawingml/2006/main">
              <a:ext uri="{FF2B5EF4-FFF2-40B4-BE49-F238E27FC236}">
                <a16:creationId xmlns:a16="http://schemas.microsoft.com/office/drawing/2014/main" id="{DA41FB80-0D81-6A49-844F-360775C70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15" y="166240"/>
            <a:ext cx="4702822" cy="10772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3200" b="1">
                <a:solidFill>
                  <a:schemeClr val="accent3">
                    <a:lumMod val="60000"/>
                    <a:lumOff val="40000"/>
                  </a:schemeClr>
                </a:solidFill>
                <a:latin typeface="微软雅黑"/>
                <a:ea typeface="微软雅黑"/>
                <a:cs typeface="微软雅黑"/>
              </a:rPr>
              <a:t>System Architecture &amp; Design Features</a:t>
            </a:r>
            <a:endParaRPr sz="3200" b="1">
              <a:solidFill>
                <a:schemeClr val="accent3">
                  <a:lumMod val="60000"/>
                  <a:lumOff val="40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椭圆 61">
            <a:extLst xmlns:a="http://schemas.openxmlformats.org/drawingml/2006/main">
              <a:ext uri="{FF2B5EF4-FFF2-40B4-BE49-F238E27FC236}">
                <a16:creationId xmlns:a16="http://schemas.microsoft.com/office/drawing/2014/main" id="{DC5E3EF0-3840-344B-A9AA-C45C509D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7687" y="4071343"/>
            <a:ext cx="641310" cy="632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57" name="图形 56">
            <a:extLst xmlns:a="http://schemas.openxmlformats.org/drawingml/2006/main">
              <a:ext uri="{FF2B5EF4-FFF2-40B4-BE49-F238E27FC236}">
                <a16:creationId xmlns:a16="http://schemas.microsoft.com/office/drawing/2014/main" id="{16C770E1-DF80-44C8-87F3-FE6D2A7B26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c85f23124a4a49">
            <a:extLst>
              <a:ext uri="{96DAC541-7B7A-43D3-8B79-37D633B846F1}">
                <asvg:svgBlip xmlns:asvg="http://schemas.microsoft.com/office/drawing/2016/SVG/main" r:embed="Rdf9604b2a9c8482b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284265" y="4056287"/>
            <a:ext cx="641310" cy="632944"/>
          </a:xfrm>
          <a:prstGeom xmlns:a="http://schemas.openxmlformats.org/drawingml/2006/main" prst="rect">
            <a:avLst/>
          </a:prstGeom>
        </p:spPr>
      </p:pic>
      <p:sp>
        <p:nvSpPr>
          <p:cNvPr id="60" name="椭圆 59">
            <a:extLst xmlns:a="http://schemas.openxmlformats.org/drawingml/2006/main">
              <a:ext uri="{FF2B5EF4-FFF2-40B4-BE49-F238E27FC236}">
                <a16:creationId xmlns:a16="http://schemas.microsoft.com/office/drawing/2014/main" id="{5B0A3FFF-7EFF-0C41-9B1E-701FCCCD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77574" y="2607676"/>
            <a:ext cx="641776" cy="647999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59" name="图形 58">
            <a:extLst xmlns:a="http://schemas.openxmlformats.org/drawingml/2006/main">
              <a:ext uri="{FF2B5EF4-FFF2-40B4-BE49-F238E27FC236}">
                <a16:creationId xmlns:a16="http://schemas.microsoft.com/office/drawing/2014/main" id="{11D7F716-8AD5-44E5-9F6E-E642B9BD28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f428cb501644c9">
            <a:extLst>
              <a:ext uri="{96DAC541-7B7A-43D3-8B79-37D633B846F1}">
                <asvg:svgBlip xmlns:asvg="http://schemas.microsoft.com/office/drawing/2016/SVG/main" r:embed="R17c157544b054ff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283798" y="2607675"/>
            <a:ext cx="641776" cy="647999"/>
          </a:xfrm>
          <a:prstGeom xmlns:a="http://schemas.openxmlformats.org/drawingml/2006/main" prst="rect">
            <a:avLst/>
          </a:prstGeom>
        </p:spPr>
      </p:pic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4C6910E3-04AB-1551-46D1-B462EAD2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830" y="4357431"/>
            <a:ext cx="536575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Browser status and controls.</a:t>
            </a:r>
            <a:endParaRPr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r>
              <a:rPr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Standby and running views.</a:t>
            </a:r>
            <a:endParaRPr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1E39E2E7-94F1-5642-1434-A3416AE15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574" y="1535205"/>
            <a:ext cx="6100010" cy="4801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90000"/>
              </a:lnSpc>
              <a:spcBef>
                <a:spcPct val="0"/>
              </a:spcBef>
              <a:buNone/>
            </a:pPr>
            <a:r>
              <a:rPr sz="2800">
                <a:solidFill>
                  <a:schemeClr val="accent3">
                    <a:lumMod val="40000"/>
                    <a:lumOff val="60000"/>
                  </a:schemeClr>
                </a:solidFill>
                <a:latin typeface="微软雅黑"/>
                <a:ea typeface="微软雅黑"/>
                <a:cs typeface="微软雅黑"/>
              </a:rPr>
              <a:t>User Interaction Design Features</a:t>
            </a:r>
            <a:endParaRPr sz="2800">
              <a:solidFill>
                <a:schemeClr val="accent3">
                  <a:lumMod val="40000"/>
                  <a:lumOff val="60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21" name="图片 20">
            <a:extLst xmlns:a="http://schemas.openxmlformats.org/drawingml/2006/main">
              <a:ext uri="{FF2B5EF4-FFF2-40B4-BE49-F238E27FC236}">
                <a16:creationId xmlns:a16="http://schemas.microsoft.com/office/drawing/2014/main" id="{F56D87B5-91D3-4007-9262-87E7E3B5FC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b2a3f66e044e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9555" y="3746310"/>
            <a:ext cx="6161227" cy="2718371"/>
          </a:xfrm>
          <a:prstGeom xmlns:a="http://schemas.openxmlformats.org/drawingml/2006/main" prst="rect">
            <a:avLst/>
          </a:prstGeom>
        </p:spPr>
      </p:pic>
      <p:pic>
        <p:nvPicPr>
          <p:cNvPr id="25" name="图片 24">
            <a:extLst xmlns:a="http://schemas.openxmlformats.org/drawingml/2006/main">
              <a:ext uri="{FF2B5EF4-FFF2-40B4-BE49-F238E27FC236}">
                <a16:creationId xmlns:a16="http://schemas.microsoft.com/office/drawing/2014/main" id="{CA2FAEB8-8CB3-4C88-8460-66908D6162C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ea19f7cf8e4360"/>
          <a:srcRect xmlns:a="http://schemas.openxmlformats.org/drawingml/2006/main" l="4517" t="0" r="451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58678" y="5322795"/>
            <a:ext cx="692483" cy="721179"/>
          </a:xfrm>
          <a:prstGeom xmlns:a="http://schemas.openxmlformats.org/drawingml/2006/main" prst="rect">
            <a:avLst/>
          </a:prstGeom>
        </p:spPr>
      </p:pic>
      <p:pic>
        <p:nvPicPr>
          <p:cNvPr id="28" name="图片 27">
            <a:extLst xmlns:a="http://schemas.openxmlformats.org/drawingml/2006/main">
              <a:ext uri="{FF2B5EF4-FFF2-40B4-BE49-F238E27FC236}">
                <a16:creationId xmlns:a16="http://schemas.microsoft.com/office/drawing/2014/main" id="{9EF188B9-B91A-4684-9F85-AFB991536E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f428cb501644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43290" y="484145"/>
            <a:ext cx="2867285" cy="2986101"/>
          </a:xfrm>
          <a:prstGeom xmlns:a="http://schemas.openxmlformats.org/drawingml/2006/main" prst="rect">
            <a:avLst/>
          </a:prstGeom>
        </p:spPr>
      </p:pic>
      <p:sp>
        <p:nvSpPr>
          <p:cNvPr id="32" name="文本框 31">
            <a:extLst xmlns:a="http://schemas.openxmlformats.org/drawingml/2006/main">
              <a:ext uri="{FF2B5EF4-FFF2-40B4-BE49-F238E27FC236}">
                <a16:creationId xmlns:a16="http://schemas.microsoft.com/office/drawing/2014/main" id="{AC821B17-EBA6-A260-6762-403426448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252" y="5222258"/>
            <a:ext cx="6100010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chemeClr val="lt1"/>
                </a:solidFill>
                <a:latin typeface="微软雅黑"/>
                <a:ea typeface="微软雅黑"/>
                <a:cs typeface="微软雅黑"/>
              </a:rPr>
              <a:t>TFT Display &amp; Local Control</a:t>
            </a:r>
            <a:endParaRPr sz="2400" b="1">
              <a:solidFill>
                <a:schemeClr val="lt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文本框 35">
            <a:extLst xmlns:a="http://schemas.openxmlformats.org/drawingml/2006/main">
              <a:ext uri="{FF2B5EF4-FFF2-40B4-BE49-F238E27FC236}">
                <a16:creationId xmlns:a16="http://schemas.microsoft.com/office/drawing/2014/main" id="{90D93DEF-F8A6-56E3-CB47-C2BF30E87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830" y="5683384"/>
            <a:ext cx="4559382" cy="6463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bg1"/>
                </a:solidFill>
              </a:rPr>
              <a:t>Displays device status and supports knob control.</a:t>
            </a:r>
            <a:endParaRPr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732998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with voice">
            <a:extLst xmlns:a="http://schemas.openxmlformats.org/drawingml/2006/main">
              <a:ext uri="{FF2B5EF4-FFF2-40B4-BE49-F238E27FC236}">
                <a16:creationId xmlns:a16="http://schemas.microsoft.com/office/drawing/2014/main" id="{FA7B0259-FEFC-46BD-A248-3E31F9A109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7c110b733044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1114" y="463981"/>
            <a:ext cx="10689771" cy="6012996"/>
          </a:xfrm>
          <a:prstGeom xmlns:a="http://schemas.openxmlformats.org/drawingml/2006/main" prst="rect">
            <a:avLst/>
          </a:prstGeom>
        </p:spPr>
      </p:pic>
      <p:sp>
        <p:nvSpPr>
          <p:cNvPr id="17" name="文本框 16">
            <a:extLst xmlns:a="http://schemas.openxmlformats.org/drawingml/2006/main">
              <a:ext uri="{FF2B5EF4-FFF2-40B4-BE49-F238E27FC236}">
                <a16:creationId xmlns:a16="http://schemas.microsoft.com/office/drawing/2014/main" id="{9A44D8ED-73FB-2445-B5CA-B31C9DF0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222" y="171594"/>
            <a:ext cx="3177767" cy="584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3200" b="1">
                <a:solidFill>
                  <a:schemeClr val="accent5">
                    <a:lumMod val="60000"/>
                    <a:lumOff val="40000"/>
                  </a:schemeClr>
                </a:solidFill>
                <a:latin typeface="微软雅黑"/>
                <a:ea typeface="微软雅黑"/>
                <a:cs typeface="微软雅黑"/>
              </a:rPr>
              <a:t>Testing Demo</a:t>
            </a:r>
            <a:endParaRPr sz="3200" b="1">
              <a:solidFill>
                <a:schemeClr val="accent5">
                  <a:lumMod val="60000"/>
                  <a:lumOff val="40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60978801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图片 9">
            <a:extLst xmlns:a="http://schemas.openxmlformats.org/drawingml/2006/main">
              <a:ext uri="{FF2B5EF4-FFF2-40B4-BE49-F238E27FC236}">
                <a16:creationId xmlns:a16="http://schemas.microsoft.com/office/drawing/2014/main" id="{E4ED3EB0-C517-4E84-823F-4EBF3423D5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1748070c54423f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69127" y="350519"/>
            <a:ext cx="5088457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矩形: 圆角 1">
            <a:extLst xmlns:a="http://schemas.openxmlformats.org/drawingml/2006/main">
              <a:ext uri="{FF2B5EF4-FFF2-40B4-BE49-F238E27FC236}">
                <a16:creationId xmlns:a16="http://schemas.microsoft.com/office/drawing/2014/main" id="{BCB19724-17E5-3865-AF3A-194975B9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003" y="2257244"/>
            <a:ext cx="9012702" cy="1094008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endParaRPr sz="24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: 圆角 2">
            <a:extLst xmlns:a="http://schemas.openxmlformats.org/drawingml/2006/main">
              <a:ext uri="{FF2B5EF4-FFF2-40B4-BE49-F238E27FC236}">
                <a16:creationId xmlns:a16="http://schemas.microsoft.com/office/drawing/2014/main" id="{DA5EBE58-2FE4-45BB-D025-58DE9EFB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775" y="228795"/>
            <a:ext cx="7068194" cy="794620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sz="3600" b="1">
                <a:solidFill>
                  <a:schemeClr val="bg2">
                    <a:lumMod val="75000"/>
                  </a:schemeClr>
                </a:solidFill>
                <a:latin typeface="微软雅黑"/>
                <a:ea typeface="微软雅黑"/>
                <a:cs typeface="微软雅黑"/>
              </a:rPr>
              <a:t>Feedback and Next Steps</a:t>
            </a:r>
            <a:endParaRPr sz="3600" b="1">
              <a:solidFill>
                <a:schemeClr val="bg2">
                  <a:lumMod val="75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F772BDCE-1575-16BA-30BF-F3A67178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775" y="3288551"/>
            <a:ext cx="6477000" cy="129266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chemeClr val="bg2">
                    <a:lumMod val="90000"/>
                  </a:schemeClr>
                </a:solidFill>
                <a:latin typeface="微软雅黑"/>
                <a:ea typeface="微软雅黑"/>
                <a:cs typeface="微软雅黑"/>
              </a:rPr>
              <a:t>Future Improvement</a:t>
            </a:r>
          </a:p>
          <a:p xmlns:a="http://schemas.openxmlformats.org/drawingml/2006/main">
            <a:endParaRPr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marL="285750" indent="-285750">
              <a:buFont typeface="Wingdings"/>
              <a:buChar char="ü"/>
            </a:pPr>
            <a:r>
              <a:rPr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Improve voice recognition accuracy </a:t>
            </a:r>
          </a:p>
          <a:p xmlns:a="http://schemas.openxmlformats.org/drawingml/2006/main">
            <a:pPr marL="285750" indent="-285750">
              <a:buFont typeface="Wingdings"/>
              <a:buChar char="ü"/>
            </a:pPr>
            <a:r>
              <a:rPr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Water–electricity separation</a:t>
            </a:r>
          </a:p>
        </p:txBody>
      </p:sp>
      <p:sp>
        <p:nvSpPr>
          <p:cNvPr id="13" name="文本框 12">
            <a:extLst xmlns:a="http://schemas.openxmlformats.org/drawingml/2006/main">
              <a:ext uri="{FF2B5EF4-FFF2-40B4-BE49-F238E27FC236}">
                <a16:creationId xmlns:a16="http://schemas.microsoft.com/office/drawing/2014/main" id="{02308685-AC99-D956-642A-38328A67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810" y="1083632"/>
            <a:ext cx="3066330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chemeClr val="bg2">
                    <a:lumMod val="90000"/>
                  </a:schemeClr>
                </a:solidFill>
                <a:latin typeface="微软雅黑"/>
                <a:ea typeface="微软雅黑"/>
                <a:cs typeface="微软雅黑"/>
              </a:rPr>
              <a:t>Users Feedback</a:t>
            </a:r>
            <a:endParaRPr sz="2400">
              <a:solidFill>
                <a:schemeClr val="bg2">
                  <a:lumMod val="90000"/>
                </a:scheme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文本框 25">
            <a:extLst xmlns:a="http://schemas.openxmlformats.org/drawingml/2006/main">
              <a:ext uri="{FF2B5EF4-FFF2-40B4-BE49-F238E27FC236}">
                <a16:creationId xmlns:a16="http://schemas.microsoft.com/office/drawing/2014/main" id="{F1C7FD29-BBCA-0FDE-70AB-33A12F667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775" y="1763190"/>
            <a:ext cx="5186911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Control: ease of use</a:t>
            </a:r>
          </a:p>
        </p:txBody>
      </p:sp>
      <p:sp>
        <p:nvSpPr>
          <p:cNvPr id="29" name="文本框 28">
            <a:extLst xmlns:a="http://schemas.openxmlformats.org/drawingml/2006/main">
              <a:ext uri="{FF2B5EF4-FFF2-40B4-BE49-F238E27FC236}">
                <a16:creationId xmlns:a16="http://schemas.microsoft.com/office/drawing/2014/main" id="{E4DC9F4F-D5A0-9BC4-458B-8B079D768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775" y="2272615"/>
            <a:ext cx="589119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Protection: water-level and thermal checks</a:t>
            </a:r>
          </a:p>
        </p:txBody>
      </p:sp>
      <p:sp>
        <p:nvSpPr>
          <p:cNvPr id="31" name="文本框 30">
            <a:extLst xmlns:a="http://schemas.openxmlformats.org/drawingml/2006/main">
              <a:ext uri="{FF2B5EF4-FFF2-40B4-BE49-F238E27FC236}">
                <a16:creationId xmlns:a16="http://schemas.microsoft.com/office/drawing/2014/main" id="{B3393A94-A757-0D72-E7D5-1C83F725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775" y="2779126"/>
            <a:ext cx="686516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Dehumidification: enclosed-space use</a:t>
            </a:r>
            <a:endParaRPr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641536027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自定义 1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2CF3A8"/>
      </a:hlink>
      <a:folHlink>
        <a:srgbClr val="8C8C8C"/>
      </a:folHlink>
    </a:clrScheme>
    <a:fontScheme name="鸿蒙">
      <a:majorFont>
        <a:latin typeface="HarmonyOS Sans SC"/>
        <a:ea typeface="HarmonyOS Sans SC"/>
        <a:cs typeface=""/>
      </a:majorFont>
      <a:minorFont>
        <a:latin typeface="HarmonyOS Sans SC"/>
        <a:ea typeface="HarmonyOS Sans SC"/>
        <a:cs typeface=""/>
      </a:minorFont>
    </a:fontScheme>
    <a:fmtScheme name="自定义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2026-10-15T19:58:41.4040000Z</dcterms:created>
  <dcterms:modified xsi:type="dcterms:W3CDTF">2026-10-15T19:58:41.4040000Z</dcterms:modified>
</coreProperties>
</file>